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93995" autoAdjust="0"/>
  </p:normalViewPr>
  <p:slideViewPr>
    <p:cSldViewPr snapToGrid="0" snapToObjects="1">
      <p:cViewPr varScale="1">
        <p:scale>
          <a:sx n="83" d="100"/>
          <a:sy n="83" d="100"/>
        </p:scale>
        <p:origin x="55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971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484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CENTRALE POPULAIRE  ·  DATA FRAMEWORK AND TECHNOLOGY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NiFi automatisés pour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l'ingestion multisources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Gestion des erreurs · Stockage HDFS partitionné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201168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937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d'initiation — Projet de Fin d'Année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303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Mahdi Benhamadi — ENSA Agadir, filière SDBDIA · Casablanca,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se situe ce projet dans la banque 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03911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28800"/>
            <a:ext cx="9509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donnée bancaire est fragmentée entre sources hétérogènes (fichiers, bases métier). Objectif : un mécanisme d'ingestion unifié destiné à alimenter un futur Data Lake, avec Apache NiFi comme moteur de flux génériques.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337560"/>
            <a:ext cx="2029968" cy="2377440"/>
          </a:xfrm>
          <a:prstGeom prst="roundRect">
            <a:avLst>
              <a:gd name="adj" fmla="val 3604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43584" y="35935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794" y="3676802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438912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génériques et paramétrables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807208" y="3337560"/>
            <a:ext cx="2029968" cy="2377440"/>
          </a:xfrm>
          <a:prstGeom prst="roundRect">
            <a:avLst>
              <a:gd name="adj" fmla="val 3604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02152" y="35935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362" y="3676802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16936" y="438912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multisources (fichiers + JDBC)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65776" y="3337560"/>
            <a:ext cx="2029968" cy="2377440"/>
          </a:xfrm>
          <a:prstGeom prst="roundRect">
            <a:avLst>
              <a:gd name="adj" fmla="val 3604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760720" y="35935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930" y="3676802"/>
            <a:ext cx="473659" cy="47365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75504" y="438912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LDAP et accès NiFi sécurisés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324344" y="3337560"/>
            <a:ext cx="2029968" cy="2377440"/>
          </a:xfrm>
          <a:prstGeom prst="roundRect">
            <a:avLst>
              <a:gd name="adj" fmla="val 3604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019288" y="35935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498" y="3676802"/>
            <a:ext cx="473659" cy="47365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34072" y="438912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 (retry, quarantaine)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9582912" y="3337560"/>
            <a:ext cx="2029968" cy="2377440"/>
          </a:xfrm>
          <a:prstGeom prst="roundRect">
            <a:avLst>
              <a:gd name="adj" fmla="val 3604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10277856" y="35935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1066" y="3676802"/>
            <a:ext cx="473659" cy="47365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692640" y="438912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HDFS partitionné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 &amp; objectifs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d'initiation — Flux NiFi — BCP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couvertes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377440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Fichiers plats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CSV, JSON, XML, TXT — dossier local "input"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Réalisé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relationnelle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via JDBC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Réalisé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Évolutivité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/ SQL Server / PostgreSQL, dépôt SFTP, largeur fixe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fait — piste future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47548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873752"/>
            <a:ext cx="676656" cy="6766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57400" y="4709160"/>
            <a:ext cx="9235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directeur : un flux générique — une nouvelle source vient se brancher sur l'architecture existante, sans réécrire ce qui existe déjà.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Périmètre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d'initiation — Flux NiFi — BCP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Docker plutôt que Cloudera 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EDEFF5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721" y="211272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de départ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personnel limité : disque presque plein, 16 Go de RAM seulement — pas de quoi faire tourner une VM Cloudera complète.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35040" y="178308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011680"/>
            <a:ext cx="777240" cy="777240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121" y="2112721"/>
            <a:ext cx="575158" cy="5751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148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retenue : Docker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55080" y="2834640"/>
            <a:ext cx="5074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Conteneurs légers — pas besoin d'une VM complète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 à installer et déboguer (conteneurs Linux, via WSL)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Reproductible en une commande : docker compose up -d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Mêmes briques Big Data qu'un cluster Hadoop classique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 rot="5400000">
            <a:off x="5532120" y="3566160"/>
            <a:ext cx="411480" cy="411480"/>
          </a:xfrm>
          <a:prstGeom prst="triangle">
            <a:avLst/>
          </a:prstGeom>
          <a:solidFill>
            <a:srgbClr val="00B4D8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Choix technologique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d'initiation — Flux NiFi — BCP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NiFi : organisation en Process Groups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11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9" y="208894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697480"/>
            <a:ext cx="2231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3108960"/>
            <a:ext cx="2231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sous-groupes : JDBC / Fichiers (4 sous-groupes, un par format)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3383280" y="178308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47872" y="2011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139" y="208894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697480"/>
            <a:ext cx="2231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47872" y="3108960"/>
            <a:ext cx="2231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 HDFS partitionnée du flux CSV unifié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6217920" y="178308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2011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9779" y="208894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2512" y="2697480"/>
            <a:ext cx="2231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82512" y="3108960"/>
            <a:ext cx="2231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Retry, quarantaine, formats non supportés</a:t>
            </a:r>
            <a:endParaRPr lang="en-US" sz="1020" dirty="0"/>
          </a:p>
        </p:txBody>
      </p:sp>
      <p:sp>
        <p:nvSpPr>
          <p:cNvPr id="19" name="Shape 14"/>
          <p:cNvSpPr/>
          <p:nvPr/>
        </p:nvSpPr>
        <p:spPr>
          <a:xfrm>
            <a:off x="9052560" y="178308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EDEFF5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17152" y="2011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4419" y="2088947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17152" y="2697480"/>
            <a:ext cx="2231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17152" y="3108960"/>
            <a:ext cx="2231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 aux évolutions futures</a:t>
            </a:r>
            <a:endParaRPr lang="en-US" sz="1020" dirty="0"/>
          </a:p>
        </p:txBody>
      </p:sp>
      <p:sp>
        <p:nvSpPr>
          <p:cNvPr id="24" name="Shape 18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4892040"/>
            <a:ext cx="777240" cy="777240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001" y="4993081"/>
            <a:ext cx="575158" cy="57515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8800" y="4754880"/>
            <a:ext cx="9509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Généricité du flow : Parameter Contexts (NiFi) et Variables (Airflow) permettent de reconfigurer une source sans toucher au flux — c'est ce qui rend l'architecture réutilisable.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 NiFi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d'initiation — Flux NiFi — BCP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 : retry &amp; quarantaine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148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Échec détecté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de conversion, format non reconnu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2606040"/>
            <a:ext cx="411480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2011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77640" y="2148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paramétrable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2651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RetryFlowFile + compteur de tentatives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0" y="2606040"/>
            <a:ext cx="411480" cy="256032"/>
          </a:xfrm>
          <a:prstGeom prst="rightArrow">
            <a:avLst/>
          </a:prstGeom>
          <a:solidFill>
            <a:srgbClr val="C97A2B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0" y="2011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C97A2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69480" y="2148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Quarantaine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69480" y="2651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dédiée + contexte d'erreur conservé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4206240"/>
            <a:ext cx="914400" cy="914400"/>
          </a:xfrm>
          <a:prstGeom prst="ellipse">
            <a:avLst/>
          </a:prstGeom>
          <a:solidFill>
            <a:srgbClr val="C97A2B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25112"/>
            <a:ext cx="676656" cy="67665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057400" y="41148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Group « Error » centralisé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457200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 les échecs de récupération de fichier, les dépassements de retry et les formats non supportés — un point d'entrée unique pour faire évoluer l'alerting.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Gestion des erreurs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d'initiation — Flux NiFi — BCP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partitionné par date + Hive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41A45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/data/&lt;source&gt;/&lt;entite&gt;/year=YYYY/month=MM/day=DD/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3291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" y="3380994"/>
            <a:ext cx="507492" cy="5074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114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dynamique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 via le langage d'expression NiFi, à partir des métadonnées d'ingestion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301752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3291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154" y="3380994"/>
            <a:ext cx="507492" cy="5074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4114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Hive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0" y="46177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sur le même MySQL que le JDBC source, en second métastore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301752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3291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914" y="3380994"/>
            <a:ext cx="507492" cy="5074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4114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pivot CSV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66760" y="46177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structure de sérialisation en sortie d'ingestion, quelle que soit la source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Stockage HDFS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d'initiation — Flux NiFi — BCP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DAG Airflow, quatre étapes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/ démarrer les conteneurs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27248" y="3200400"/>
            <a:ext cx="237744" cy="22860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96596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30632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Attendre la disponibilité des services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61888" y="3200400"/>
            <a:ext cx="237744" cy="22860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96596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7804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30632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Déclencher le flux NiFi via l'API REST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96528" y="3200400"/>
            <a:ext cx="237744" cy="22860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9052560" y="196596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1268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1268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35440" y="30632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 le résultat sur Discord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Identifiants NiFi et webhook Discord stockés en Variables Airflow — jamais en dur dans le code.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Orchestration Airflow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d'initiation — Flux NiFi — BCP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LDAP et accès NiFi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1097280" cy="1097280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2337206"/>
            <a:ext cx="811987" cy="8119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429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→ OpenLDAP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 authentifiait un seul compte local au départ. Migration vers un annuaire OpenLDAP dédié pour sécuriser les accès.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0" y="1828800"/>
            <a:ext cx="5669280" cy="3840480"/>
          </a:xfrm>
          <a:prstGeom prst="roundRect">
            <a:avLst>
              <a:gd name="adj" fmla="val 1905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6364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mis en place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63640" y="251460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OpenLDAP dédié
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via phpLDAPadmin
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Docker persistants (comptes conservés au redémarrage)
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l'interface NiFi en HTTPS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Sécurité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d'initiation — Flux NiFi — BCP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</a:t>
            </a:r>
            <a:endParaRPr lang="en-US" sz="2700" dirty="0"/>
          </a:p>
        </p:txBody>
      </p:sp>
      <p:sp>
        <p:nvSpPr>
          <p:cNvPr id="21" name="Shape 15"/>
          <p:cNvSpPr/>
          <p:nvPr/>
        </p:nvSpPr>
        <p:spPr>
          <a:xfrm>
            <a:off x="8554212" y="453085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Démonstration (1/4)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d'initiation — Flux NiFi — BCP</a:t>
            </a:r>
            <a:endParaRPr lang="en-US" sz="900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AFF928F2-3B37-4168-BC35-AE90B8B0A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85" y="1407279"/>
            <a:ext cx="4874858" cy="3260515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246E0598-BBDE-48FC-A47F-74E1D1485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5984" y="1490473"/>
            <a:ext cx="3701227" cy="200738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5487967E-E7AB-4AE2-A98E-342D76ED2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8735" y="1970532"/>
            <a:ext cx="2516609" cy="3539961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4EAAA47A-08FA-45F6-8C89-062A13026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7603" y="3806382"/>
            <a:ext cx="2516609" cy="20987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554212" y="453085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(2/4)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d'initiation — Flux NiFi — BCP</a:t>
            </a:r>
            <a:endParaRPr lang="en-US" sz="900" dirty="0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246E0598-BBDE-48FC-A47F-74E1D1485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246" y="744409"/>
            <a:ext cx="5160608" cy="2798891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A39656CB-8889-4866-9E62-2BCD5714D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202" y="1316782"/>
            <a:ext cx="4347096" cy="4224436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AF92CDEA-84D9-4BE3-9212-3D3A1A73C0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578" y="2124017"/>
            <a:ext cx="2154520" cy="2992051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88F262C6-B52B-45AF-9EA8-92C01AA0D2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4246" y="4178354"/>
            <a:ext cx="5160608" cy="2224478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99D36B32-8D88-49D1-81C0-075E90718AEE}"/>
              </a:ext>
            </a:extLst>
          </p:cNvPr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2416100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</a:t>
            </a:r>
            <a:endParaRPr lang="en-US" sz="27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(3/4)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d'initiation — Flux NiFi — BCP</a:t>
            </a:r>
            <a:endParaRPr lang="en-US" sz="90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B24B3A99-AA05-403F-8EDB-148C4BEB9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23" y="1245604"/>
            <a:ext cx="4190764" cy="2472039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93A23B29-8666-45E8-9481-E7033795E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883" y="3856510"/>
            <a:ext cx="3527997" cy="2559527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01A6C93A-D6C1-4588-9DF0-5BFECA0141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6190" y="1245603"/>
            <a:ext cx="3705142" cy="2302599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D7719F90-580D-417C-ADC5-C18C523C34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8938" y="1272588"/>
            <a:ext cx="3291939" cy="2248628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CC3B1B08-89F7-4300-985F-012AE2E035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785" y="3856510"/>
            <a:ext cx="5982621" cy="233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58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fr-FR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27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sultats</a:t>
            </a:r>
            <a:endParaRPr lang="en-US" sz="27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(4/4)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d'initiation — Flux NiFi — BCP</a:t>
            </a:r>
            <a:endParaRPr lang="en-US" sz="900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7BC60CA1-5B17-4BFC-864C-FC749DBCD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30" y="1396900"/>
            <a:ext cx="8035364" cy="220639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568C751-CDC6-487D-9573-89D4E3599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566" y="3765755"/>
            <a:ext cx="2805836" cy="270819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43C243A-8942-4C65-B62C-B69541CE21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2280" y="1742718"/>
            <a:ext cx="2129350" cy="42229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résolutions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93392"/>
            <a:ext cx="594360" cy="594360"/>
          </a:xfrm>
          <a:prstGeom prst="ellipse">
            <a:avLst/>
          </a:prstGeom>
          <a:solidFill>
            <a:srgbClr val="C97A2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7" y="2070659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0195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PC limitées (disque plein, 16 Go RAM)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2176272"/>
            <a:ext cx="365760" cy="219456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190195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d'une stack Docker légère plutôt qu'une VM complète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3044952"/>
            <a:ext cx="594360" cy="594360"/>
          </a:xfrm>
          <a:prstGeom prst="ellipse">
            <a:avLst/>
          </a:prstGeom>
          <a:solidFill>
            <a:srgbClr val="C97A2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7" y="3122219"/>
            <a:ext cx="439826" cy="439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95351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de partitionnement vides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3227832"/>
            <a:ext cx="365760" cy="219456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5" name="Text 11"/>
          <p:cNvSpPr/>
          <p:nvPr/>
        </p:nvSpPr>
        <p:spPr>
          <a:xfrm>
            <a:off x="6629400" y="295351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du nommage NiFi + séparation métadonnées / chemin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096512"/>
            <a:ext cx="594360" cy="594360"/>
          </a:xfrm>
          <a:prstGeom prst="ellipse">
            <a:avLst/>
          </a:prstGeom>
          <a:solidFill>
            <a:srgbClr val="C97A2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7" y="4173779"/>
            <a:ext cx="439826" cy="43982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00507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LDAP perdus au redémarrage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26480" y="4279392"/>
            <a:ext cx="365760" cy="219456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21" name="Text 16"/>
          <p:cNvSpPr/>
          <p:nvPr/>
        </p:nvSpPr>
        <p:spPr>
          <a:xfrm>
            <a:off x="6629400" y="400507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 volumes Docker persistants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9834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5148072"/>
            <a:ext cx="594360" cy="594360"/>
          </a:xfrm>
          <a:prstGeom prst="ellipse">
            <a:avLst/>
          </a:prstGeom>
          <a:solidFill>
            <a:srgbClr val="C97A2B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7" y="5225339"/>
            <a:ext cx="439826" cy="43982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505663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Airflow → NiFi en échec après passage à LDAP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126480" y="5330952"/>
            <a:ext cx="365760" cy="219456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27" name="Text 21"/>
          <p:cNvSpPr/>
          <p:nvPr/>
        </p:nvSpPr>
        <p:spPr>
          <a:xfrm>
            <a:off x="6629400" y="505663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de l'authentification utilisée par le DAG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Difficultés &amp; résolutions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d'initiation — Flux NiFi — BCP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livré &amp; pistes futures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2470709"/>
            <a:ext cx="270662" cy="2706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377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fichiers plats (4 formats)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295351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3001061"/>
            <a:ext cx="270662" cy="2706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9077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JDBC (MySQL)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348386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3531413"/>
            <a:ext cx="270662" cy="2706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43814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 (retry + quarantaine)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22960" y="401421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4061765"/>
            <a:ext cx="270662" cy="2706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39684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HDFS partitionné + Hive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822960" y="45445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4592117"/>
            <a:ext cx="270662" cy="27066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5880" y="44988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Airflow de bout en bout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822960" y="507492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5122469"/>
            <a:ext cx="270662" cy="27066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25880" y="50292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LDAP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6172200" y="178308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Text 17"/>
          <p:cNvSpPr/>
          <p:nvPr/>
        </p:nvSpPr>
        <p:spPr>
          <a:xfrm>
            <a:off x="644652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futures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6446520" y="246888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19"/>
          <p:cNvSpPr/>
          <p:nvPr/>
        </p:nvSpPr>
        <p:spPr>
          <a:xfrm>
            <a:off x="6812280" y="235000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supplémentaires (Oracle, SQL Server, PostgreSQL)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446520" y="324612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1"/>
          <p:cNvSpPr/>
          <p:nvPr/>
        </p:nvSpPr>
        <p:spPr>
          <a:xfrm>
            <a:off x="6812280" y="31272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Group Monitoring réellement actif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446520" y="402336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1" name="Text 23"/>
          <p:cNvSpPr/>
          <p:nvPr/>
        </p:nvSpPr>
        <p:spPr>
          <a:xfrm>
            <a:off x="6812280" y="390448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pivot Parquet/Avro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6446520" y="480060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25"/>
          <p:cNvSpPr/>
          <p:nvPr/>
        </p:nvSpPr>
        <p:spPr>
          <a:xfrm>
            <a:off x="6812280" y="468172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Medallion complète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Bilan &amp; perspectives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d'initiation — Flux NiFi — BCP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436306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43159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github.com/sunyata0-0/BigData-Ingestion-Pipeline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874</Words>
  <Application>Microsoft Office PowerPoint</Application>
  <PresentationFormat>Grand écran</PresentationFormat>
  <Paragraphs>166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mahdi benhamadi</cp:lastModifiedBy>
  <cp:revision>11</cp:revision>
  <cp:lastPrinted>2026-07-27T08:20:47Z</cp:lastPrinted>
  <dcterms:created xsi:type="dcterms:W3CDTF">2026-07-23T18:48:02Z</dcterms:created>
  <dcterms:modified xsi:type="dcterms:W3CDTF">2026-07-27T08:44:53Z</dcterms:modified>
</cp:coreProperties>
</file>